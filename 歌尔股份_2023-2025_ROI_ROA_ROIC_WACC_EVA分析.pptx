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 10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歌尔股份资本回报与价值创造分析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ROI、ROA、ROIC、WACC、EVA | 2023-2025 年报口径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685800" y="160020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结论先行：公司已经从“利润修复”进入“价值创造扩张”。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ect 100"/>
          <p:cNvSpPr/>
          <p:nvPr/>
        </p:nvSpPr>
        <p:spPr>
          <a:xfrm>
            <a:off x="731520" y="2779776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32688" y="274320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2023 年 ROIC 低于 WACC，账面盈利但未覆盖资本成本。</a:t>
            </a:r>
            <a:endParaRPr lang="zh-CN" sz="18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 101"/>
          <p:cNvSpPr/>
          <p:nvPr/>
        </p:nvSpPr>
        <p:spPr>
          <a:xfrm>
            <a:off x="731520" y="3310128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2688" y="327355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2024 年 EVA 转正，经营回报开始跑赢资金成本。</a:t>
            </a:r>
            <a:endParaRPr lang="zh-CN" sz="18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731520" y="3840480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32688" y="3803904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2025 年 ROIC 升至 14.25%，EVA 扩大到 21.28 亿元。</a:t>
            </a:r>
            <a:endParaRPr lang="zh-CN" sz="18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 103"/>
          <p:cNvSpPr/>
          <p:nvPr/>
        </p:nvSpPr>
        <p:spPr>
          <a:xfrm>
            <a:off x="8503920" y="160020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668512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1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 ROIC</a:t>
            </a:r>
            <a:endParaRPr lang="zh-CN" sz="1200" b="1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668512" y="200253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3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14.25%</a:t>
            </a:r>
            <a:endParaRPr lang="zh-CN" sz="23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8668512" y="2386584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主业资本回报</a:t>
            </a:r>
            <a:endParaRPr lang="zh-CN" sz="9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 104"/>
          <p:cNvSpPr/>
          <p:nvPr/>
        </p:nvSpPr>
        <p:spPr>
          <a:xfrm>
            <a:off x="8503920" y="288036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668512" y="301752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1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 WACC</a:t>
            </a:r>
            <a:endParaRPr lang="zh-CN" sz="1200" b="1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8668512" y="328269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3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7.40%</a:t>
            </a:r>
            <a:endParaRPr lang="zh-CN" sz="23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8668512" y="3666744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资金综合成本</a:t>
            </a:r>
            <a:endParaRPr lang="zh-CN" sz="9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 105"/>
          <p:cNvSpPr/>
          <p:nvPr/>
        </p:nvSpPr>
        <p:spPr>
          <a:xfrm>
            <a:off x="8503920" y="416052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8668512" y="429768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1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 EVA</a:t>
            </a:r>
            <a:endParaRPr lang="zh-CN" sz="1200" b="1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8668512" y="456285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3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21.28 亿</a:t>
            </a:r>
            <a:endParaRPr lang="zh-CN" sz="23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8668512" y="4946904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扣除资本成本后</a:t>
            </a:r>
            <a:endParaRPr lang="zh-CN" sz="9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 1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核心指标总览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三年指标一页看清：回报率上行，资金成本小幅下降，EVA 持续改善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Rect 108"/>
          <p:cNvSpPr/>
          <p:nvPr/>
        </p:nvSpPr>
        <p:spPr>
          <a:xfrm>
            <a:off x="551180" y="1268730"/>
            <a:ext cx="10698480" cy="3977639"/>
          </a:xfrm>
          <a:prstGeom prst="roundRect">
            <a:avLst>
              <a:gd name="adj" fmla="val 5379"/>
            </a:avLst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868680" y="1627632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年度        ROI        ROA        ROIC       WACC       EVA</a:t>
            </a:r>
            <a:endParaRPr lang="zh-CN" sz="1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1" name="Line 201"/>
          <p:cNvCxnSpPr/>
          <p:nvPr/>
        </p:nvCxnSpPr>
        <p:spPr>
          <a:xfrm>
            <a:off x="868680" y="1993392"/>
            <a:ext cx="10241280" cy="0"/>
          </a:xfrm>
          <a:prstGeom prst="line">
            <a:avLst/>
          </a:prstGeom>
          <a:ln w="25400">
            <a:solidFill>
              <a:srgbClr val="D9E2E6"/>
            </a:solidFill>
          </a:ln>
        </p:spPr>
      </p:cxnSp>
      <p:sp>
        <p:nvSpPr>
          <p:cNvPr id="28" name="Text 28"/>
          <p:cNvSpPr txBox="1"/>
          <p:nvPr/>
        </p:nvSpPr>
        <p:spPr>
          <a:xfrm>
            <a:off x="868680" y="224028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2023       3.65%      1.35%      4.78%      7.87%      -8.60 亿元</a:t>
            </a:r>
            <a:endParaRPr lang="zh-CN" sz="17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868680" y="28803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2024       8.95%      3.31%      10.80%     7.58%       9.29 亿元</a:t>
            </a:r>
            <a:endParaRPr lang="zh-CN" sz="17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868680" y="352044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2025       12.34%     4.42%      14.25%     7.40%      21.28 亿元</a:t>
            </a:r>
            <a:endParaRPr lang="zh-CN" sz="17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868680" y="459028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老板视角：不是简单“赚了多少钱”，而是每一元资本投进去后，是否真的超过了资金成本。</a:t>
            </a:r>
            <a:endParaRPr lang="zh-CN" sz="16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 35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 12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ROIC 跑赢 WACC 是关键拐点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 52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ROIC 代表经营回报，WACC 代表资金成本；两者差额决定是否创造经济利润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1005840" y="141732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ROIC vs WACC</a:t>
            </a:r>
            <a:endParaRPr lang="zh-CN" sz="1600" b="1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3" name="Line 203"/>
          <p:cNvCxnSpPr/>
          <p:nvPr/>
        </p:nvCxnSpPr>
        <p:spPr>
          <a:xfrm>
            <a:off x="1005840" y="1828800"/>
            <a:ext cx="585216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04" name="Line 204"/>
          <p:cNvCxnSpPr/>
          <p:nvPr>
            <p:custDataLst>
              <p:tags r:id="rId1"/>
            </p:custDataLst>
          </p:nvPr>
        </p:nvCxnSpPr>
        <p:spPr>
          <a:xfrm>
            <a:off x="1005840" y="2895600"/>
            <a:ext cx="585216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05" name="Line 205"/>
          <p:cNvCxnSpPr/>
          <p:nvPr>
            <p:custDataLst>
              <p:tags r:id="rId2"/>
            </p:custDataLst>
          </p:nvPr>
        </p:nvCxnSpPr>
        <p:spPr>
          <a:xfrm>
            <a:off x="1005840" y="3962400"/>
            <a:ext cx="585216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06" name="Line 206"/>
          <p:cNvCxnSpPr/>
          <p:nvPr>
            <p:custDataLst>
              <p:tags r:id="rId3"/>
            </p:custDataLst>
          </p:nvPr>
        </p:nvCxnSpPr>
        <p:spPr>
          <a:xfrm>
            <a:off x="1005840" y="5029200"/>
            <a:ext cx="585216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07" name="Line 207"/>
          <p:cNvCxnSpPr/>
          <p:nvPr>
            <p:custDataLst>
              <p:tags r:id="rId4"/>
            </p:custDataLst>
          </p:nvPr>
        </p:nvCxnSpPr>
        <p:spPr>
          <a:xfrm flipV="1">
            <a:off x="1005840" y="3172405"/>
            <a:ext cx="2926080" cy="1659180"/>
          </a:xfrm>
          <a:prstGeom prst="line">
            <a:avLst/>
          </a:prstGeom>
          <a:ln w="27940">
            <a:solidFill>
              <a:srgbClr val="1F9D8A"/>
            </a:solidFill>
          </a:ln>
        </p:spPr>
      </p:cxnSp>
      <p:cxnSp>
        <p:nvCxnSpPr>
          <p:cNvPr id="208" name="Line 208"/>
          <p:cNvCxnSpPr/>
          <p:nvPr>
            <p:custDataLst>
              <p:tags r:id="rId5"/>
            </p:custDataLst>
          </p:nvPr>
        </p:nvCxnSpPr>
        <p:spPr>
          <a:xfrm flipV="1">
            <a:off x="3931920" y="2221546"/>
            <a:ext cx="2926079" cy="950859"/>
          </a:xfrm>
          <a:prstGeom prst="line">
            <a:avLst/>
          </a:prstGeom>
          <a:ln w="27940">
            <a:solidFill>
              <a:srgbClr val="1F9D8A"/>
            </a:solidFill>
          </a:ln>
        </p:spPr>
      </p:cxnSp>
      <p:sp>
        <p:nvSpPr>
          <p:cNvPr id="111" name="Rect 111"/>
          <p:cNvSpPr/>
          <p:nvPr>
            <p:custDataLst>
              <p:tags r:id="rId6"/>
            </p:custDataLst>
          </p:nvPr>
        </p:nvSpPr>
        <p:spPr>
          <a:xfrm>
            <a:off x="964692" y="4790438"/>
            <a:ext cx="82296" cy="8229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37" name="Text 37"/>
          <p:cNvSpPr txBox="1"/>
          <p:nvPr>
            <p:custDataLst>
              <p:tags r:id="rId7"/>
            </p:custDataLst>
          </p:nvPr>
        </p:nvSpPr>
        <p:spPr>
          <a:xfrm>
            <a:off x="749808" y="4511546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4.78%</a:t>
            </a:r>
            <a:endParaRPr lang="zh-CN" sz="9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Rect 112"/>
          <p:cNvSpPr/>
          <p:nvPr>
            <p:custDataLst>
              <p:tags r:id="rId8"/>
            </p:custDataLst>
          </p:nvPr>
        </p:nvSpPr>
        <p:spPr>
          <a:xfrm>
            <a:off x="3890772" y="3131257"/>
            <a:ext cx="82296" cy="8229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38" name="Text 38"/>
          <p:cNvSpPr txBox="1"/>
          <p:nvPr>
            <p:custDataLst>
              <p:tags r:id="rId9"/>
            </p:custDataLst>
          </p:nvPr>
        </p:nvSpPr>
        <p:spPr>
          <a:xfrm>
            <a:off x="3675888" y="2852365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10.80%</a:t>
            </a:r>
            <a:endParaRPr lang="zh-CN" sz="9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 113"/>
          <p:cNvSpPr/>
          <p:nvPr>
            <p:custDataLst>
              <p:tags r:id="rId10"/>
            </p:custDataLst>
          </p:nvPr>
        </p:nvSpPr>
        <p:spPr>
          <a:xfrm>
            <a:off x="6816852" y="2180398"/>
            <a:ext cx="82296" cy="8229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39" name="Text 39"/>
          <p:cNvSpPr txBox="1"/>
          <p:nvPr>
            <p:custDataLst>
              <p:tags r:id="rId11"/>
            </p:custDataLst>
          </p:nvPr>
        </p:nvSpPr>
        <p:spPr>
          <a:xfrm>
            <a:off x="6601968" y="1901506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14.25%</a:t>
            </a:r>
            <a:endParaRPr lang="zh-CN" sz="9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9" name="Line 209"/>
          <p:cNvCxnSpPr/>
          <p:nvPr>
            <p:custDataLst>
              <p:tags r:id="rId12"/>
            </p:custDataLst>
          </p:nvPr>
        </p:nvCxnSpPr>
        <p:spPr>
          <a:xfrm>
            <a:off x="1005840" y="3979947"/>
            <a:ext cx="2926080" cy="79927"/>
          </a:xfrm>
          <a:prstGeom prst="line">
            <a:avLst/>
          </a:prstGeom>
          <a:ln w="27940">
            <a:solidFill>
              <a:srgbClr val="E58C2A"/>
            </a:solidFill>
          </a:ln>
        </p:spPr>
      </p:cxnSp>
      <p:cxnSp>
        <p:nvCxnSpPr>
          <p:cNvPr id="210" name="Line 210"/>
          <p:cNvCxnSpPr/>
          <p:nvPr>
            <p:custDataLst>
              <p:tags r:id="rId13"/>
            </p:custDataLst>
          </p:nvPr>
        </p:nvCxnSpPr>
        <p:spPr>
          <a:xfrm>
            <a:off x="3931920" y="4059874"/>
            <a:ext cx="2926079" cy="49610"/>
          </a:xfrm>
          <a:prstGeom prst="line">
            <a:avLst/>
          </a:prstGeom>
          <a:ln w="27940">
            <a:solidFill>
              <a:srgbClr val="E58C2A"/>
            </a:solidFill>
          </a:ln>
        </p:spPr>
      </p:cxnSp>
      <p:sp>
        <p:nvSpPr>
          <p:cNvPr id="114" name="Rect 114"/>
          <p:cNvSpPr/>
          <p:nvPr>
            <p:custDataLst>
              <p:tags r:id="rId14"/>
            </p:custDataLst>
          </p:nvPr>
        </p:nvSpPr>
        <p:spPr>
          <a:xfrm>
            <a:off x="964692" y="3938799"/>
            <a:ext cx="82296" cy="82296"/>
          </a:xfrm>
          <a:prstGeom prst="rect">
            <a:avLst/>
          </a:prstGeom>
          <a:solidFill>
            <a:srgbClr val="E58C2A"/>
          </a:solidFill>
          <a:ln w="9525">
            <a:solidFill>
              <a:srgbClr val="E58C2A"/>
            </a:solidFill>
          </a:ln>
        </p:spPr>
      </p:sp>
      <p:sp>
        <p:nvSpPr>
          <p:cNvPr id="40" name="Text 40"/>
          <p:cNvSpPr txBox="1"/>
          <p:nvPr>
            <p:custDataLst>
              <p:tags r:id="rId15"/>
            </p:custDataLst>
          </p:nvPr>
        </p:nvSpPr>
        <p:spPr>
          <a:xfrm>
            <a:off x="749808" y="3659907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7.87%</a:t>
            </a:r>
            <a:endParaRPr lang="zh-CN" sz="9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ect 115"/>
          <p:cNvSpPr/>
          <p:nvPr>
            <p:custDataLst>
              <p:tags r:id="rId16"/>
            </p:custDataLst>
          </p:nvPr>
        </p:nvSpPr>
        <p:spPr>
          <a:xfrm>
            <a:off x="3890772" y="4018726"/>
            <a:ext cx="82296" cy="82296"/>
          </a:xfrm>
          <a:prstGeom prst="rect">
            <a:avLst/>
          </a:prstGeom>
          <a:solidFill>
            <a:srgbClr val="E58C2A"/>
          </a:solidFill>
          <a:ln w="9525">
            <a:solidFill>
              <a:srgbClr val="E58C2A"/>
            </a:solidFill>
          </a:ln>
        </p:spPr>
      </p:sp>
      <p:sp>
        <p:nvSpPr>
          <p:cNvPr id="41" name="Text 41"/>
          <p:cNvSpPr txBox="1"/>
          <p:nvPr>
            <p:custDataLst>
              <p:tags r:id="rId17"/>
            </p:custDataLst>
          </p:nvPr>
        </p:nvSpPr>
        <p:spPr>
          <a:xfrm>
            <a:off x="3675888" y="373983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7.58%</a:t>
            </a:r>
            <a:endParaRPr lang="zh-CN" sz="9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Rect 116"/>
          <p:cNvSpPr/>
          <p:nvPr>
            <p:custDataLst>
              <p:tags r:id="rId18"/>
            </p:custDataLst>
          </p:nvPr>
        </p:nvSpPr>
        <p:spPr>
          <a:xfrm>
            <a:off x="6816852" y="4068336"/>
            <a:ext cx="82296" cy="82296"/>
          </a:xfrm>
          <a:prstGeom prst="rect">
            <a:avLst/>
          </a:prstGeom>
          <a:solidFill>
            <a:srgbClr val="E58C2A"/>
          </a:solidFill>
          <a:ln w="9525">
            <a:solidFill>
              <a:srgbClr val="E58C2A"/>
            </a:solidFill>
          </a:ln>
        </p:spPr>
      </p:sp>
      <p:sp>
        <p:nvSpPr>
          <p:cNvPr id="42" name="Text 42"/>
          <p:cNvSpPr txBox="1"/>
          <p:nvPr>
            <p:custDataLst>
              <p:tags r:id="rId19"/>
            </p:custDataLst>
          </p:nvPr>
        </p:nvSpPr>
        <p:spPr>
          <a:xfrm>
            <a:off x="6601968" y="378944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7.40%</a:t>
            </a:r>
            <a:endParaRPr lang="zh-CN" sz="9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43"/>
          <p:cNvSpPr txBox="1"/>
          <p:nvPr>
            <p:custDataLst>
              <p:tags r:id="rId20"/>
            </p:custDataLst>
          </p:nvPr>
        </p:nvSpPr>
        <p:spPr>
          <a:xfrm>
            <a:off x="777240" y="513892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44"/>
          <p:cNvSpPr txBox="1"/>
          <p:nvPr>
            <p:custDataLst>
              <p:tags r:id="rId21"/>
            </p:custDataLst>
          </p:nvPr>
        </p:nvSpPr>
        <p:spPr>
          <a:xfrm>
            <a:off x="3703320" y="513892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 45"/>
          <p:cNvSpPr txBox="1"/>
          <p:nvPr>
            <p:custDataLst>
              <p:tags r:id="rId22"/>
            </p:custDataLst>
          </p:nvPr>
        </p:nvSpPr>
        <p:spPr>
          <a:xfrm>
            <a:off x="6629400" y="513892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 117"/>
          <p:cNvSpPr/>
          <p:nvPr/>
        </p:nvSpPr>
        <p:spPr>
          <a:xfrm>
            <a:off x="7452360" y="1600200"/>
            <a:ext cx="361188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7726679" y="1874519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汇报话术</a:t>
            </a:r>
            <a:endParaRPr lang="zh-CN" sz="18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ect 118"/>
          <p:cNvSpPr/>
          <p:nvPr/>
        </p:nvSpPr>
        <p:spPr>
          <a:xfrm>
            <a:off x="7726679" y="2551176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7927848" y="25146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2023 年：经营回报低于资金成本。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ect 119"/>
          <p:cNvSpPr/>
          <p:nvPr/>
        </p:nvSpPr>
        <p:spPr>
          <a:xfrm>
            <a:off x="7726679" y="3081528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7927848" y="30449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2024 年：ROIC 明显越过 WACC，价值转正。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ect 120"/>
          <p:cNvSpPr/>
          <p:nvPr/>
        </p:nvSpPr>
        <p:spPr>
          <a:xfrm>
            <a:off x="7726679" y="3611880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7927848" y="357530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2025 年：差距继续拉大，说明经营质量继续改善。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 53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 12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64" name="Text 64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EVA：从价值消耗到价值创造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 65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EVA = NOPAT - WACC × 投入资本，能回答“扣掉资金成本后还剩多少”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 54"/>
          <p:cNvSpPr txBox="1"/>
          <p:nvPr/>
        </p:nvSpPr>
        <p:spPr>
          <a:xfrm>
            <a:off x="1005840" y="14173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EVA（亿元）</a:t>
            </a:r>
            <a:endParaRPr lang="zh-CN" sz="1600" b="1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2" name="Line 212"/>
          <p:cNvCxnSpPr/>
          <p:nvPr/>
        </p:nvCxnSpPr>
        <p:spPr>
          <a:xfrm>
            <a:off x="1005840" y="4075506"/>
            <a:ext cx="5943600" cy="0"/>
          </a:xfrm>
          <a:prstGeom prst="line">
            <a:avLst/>
          </a:prstGeom>
          <a:ln w="12700">
            <a:solidFill>
              <a:srgbClr val="60717B"/>
            </a:solidFill>
          </a:ln>
        </p:spPr>
      </p:cxnSp>
      <p:sp>
        <p:nvSpPr>
          <p:cNvPr id="123" name="Rect 123"/>
          <p:cNvSpPr/>
          <p:nvPr/>
        </p:nvSpPr>
        <p:spPr>
          <a:xfrm>
            <a:off x="1508760" y="4075506"/>
            <a:ext cx="1165411" cy="907973"/>
          </a:xfrm>
          <a:prstGeom prst="rect">
            <a:avLst/>
          </a:prstGeom>
          <a:solidFill>
            <a:srgbClr val="C7473A"/>
          </a:solidFill>
          <a:ln w="9525">
            <a:solidFill>
              <a:srgbClr val="C7473A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1371600" y="5093208"/>
            <a:ext cx="143973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 56"/>
          <p:cNvSpPr txBox="1"/>
          <p:nvPr/>
        </p:nvSpPr>
        <p:spPr>
          <a:xfrm>
            <a:off x="1234440" y="3819474"/>
            <a:ext cx="171405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C7473A"/>
                </a:solidFill>
                <a:latin typeface="微软雅黑" panose="020B0503020204020204" charset="-122"/>
                <a:ea typeface="微软雅黑" panose="020B0503020204020204" charset="-122"/>
              </a:rPr>
              <a:t>-8.60</a:t>
            </a:r>
            <a:endParaRPr lang="zh-CN" sz="1000" b="1">
              <a:solidFill>
                <a:srgbClr val="C747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Rect 124"/>
          <p:cNvSpPr/>
          <p:nvPr/>
        </p:nvSpPr>
        <p:spPr>
          <a:xfrm>
            <a:off x="3489960" y="3094683"/>
            <a:ext cx="1165411" cy="980822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</p:spPr>
      </p:sp>
      <p:sp>
        <p:nvSpPr>
          <p:cNvPr id="57" name="Text 57"/>
          <p:cNvSpPr txBox="1"/>
          <p:nvPr/>
        </p:nvSpPr>
        <p:spPr>
          <a:xfrm>
            <a:off x="3352800" y="5093208"/>
            <a:ext cx="143973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 58"/>
          <p:cNvSpPr txBox="1"/>
          <p:nvPr/>
        </p:nvSpPr>
        <p:spPr>
          <a:xfrm>
            <a:off x="3215640" y="2838651"/>
            <a:ext cx="171405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9.29</a:t>
            </a:r>
            <a:endParaRPr lang="zh-CN"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Rect 125"/>
          <p:cNvSpPr/>
          <p:nvPr/>
        </p:nvSpPr>
        <p:spPr>
          <a:xfrm>
            <a:off x="5471160" y="1828800"/>
            <a:ext cx="1165411" cy="2246706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5334000" y="5093208"/>
            <a:ext cx="143973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 60"/>
          <p:cNvSpPr txBox="1"/>
          <p:nvPr/>
        </p:nvSpPr>
        <p:spPr>
          <a:xfrm>
            <a:off x="5196840" y="1572768"/>
            <a:ext cx="171405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21.28</a:t>
            </a:r>
            <a:endParaRPr lang="zh-CN"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7360920" y="1645920"/>
            <a:ext cx="419608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7635240" y="1920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老板能听懂的解释</a:t>
            </a:r>
            <a:endParaRPr lang="zh-CN" sz="17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 62"/>
          <p:cNvSpPr txBox="1"/>
          <p:nvPr/>
        </p:nvSpPr>
        <p:spPr>
          <a:xfrm>
            <a:off x="7635240" y="2514600"/>
            <a:ext cx="364045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2023 年账面赚钱，但扣掉资本成本为负。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2024 年开始真正给股东创造超额回报。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2025 年 EVA 扩大，说明价值创造能力更扎实。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 66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 14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82" name="Text 82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ROI 与 ROA：赚钱效率同步改善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 83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ROI 看投入资本回报，ROA 看总资产使用效率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 67"/>
          <p:cNvSpPr txBox="1"/>
          <p:nvPr/>
        </p:nvSpPr>
        <p:spPr>
          <a:xfrm>
            <a:off x="914400" y="141732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ROI / ROA 三年趋势</a:t>
            </a:r>
            <a:endParaRPr lang="zh-CN" sz="1600" b="1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4" name="Line 214"/>
          <p:cNvCxnSpPr/>
          <p:nvPr/>
        </p:nvCxnSpPr>
        <p:spPr>
          <a:xfrm>
            <a:off x="914400" y="1828800"/>
            <a:ext cx="603504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15" name="Line 215"/>
          <p:cNvCxnSpPr/>
          <p:nvPr/>
        </p:nvCxnSpPr>
        <p:spPr>
          <a:xfrm>
            <a:off x="914400" y="2865120"/>
            <a:ext cx="603504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16" name="Line 216"/>
          <p:cNvCxnSpPr/>
          <p:nvPr/>
        </p:nvCxnSpPr>
        <p:spPr>
          <a:xfrm>
            <a:off x="914400" y="3901440"/>
            <a:ext cx="603504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17" name="Line 217"/>
          <p:cNvCxnSpPr/>
          <p:nvPr/>
        </p:nvCxnSpPr>
        <p:spPr>
          <a:xfrm>
            <a:off x="914400" y="4937760"/>
            <a:ext cx="6035040" cy="0"/>
          </a:xfrm>
          <a:prstGeom prst="line">
            <a:avLst/>
          </a:prstGeom>
          <a:ln w="8890">
            <a:solidFill>
              <a:srgbClr val="D9E2E6"/>
            </a:solidFill>
          </a:ln>
        </p:spPr>
      </p:cxnSp>
      <p:cxnSp>
        <p:nvCxnSpPr>
          <p:cNvPr id="218" name="Line 218"/>
          <p:cNvCxnSpPr/>
          <p:nvPr/>
        </p:nvCxnSpPr>
        <p:spPr>
          <a:xfrm flipV="1">
            <a:off x="914400" y="2985668"/>
            <a:ext cx="3017520" cy="1325995"/>
          </a:xfrm>
          <a:prstGeom prst="line">
            <a:avLst/>
          </a:prstGeom>
          <a:ln w="27940">
            <a:solidFill>
              <a:srgbClr val="1F9D8A"/>
            </a:solidFill>
          </a:ln>
        </p:spPr>
      </p:cxnSp>
      <p:cxnSp>
        <p:nvCxnSpPr>
          <p:cNvPr id="219" name="Line 219"/>
          <p:cNvCxnSpPr/>
          <p:nvPr/>
        </p:nvCxnSpPr>
        <p:spPr>
          <a:xfrm flipV="1">
            <a:off x="3931920" y="2137531"/>
            <a:ext cx="3017520" cy="848136"/>
          </a:xfrm>
          <a:prstGeom prst="line">
            <a:avLst/>
          </a:prstGeom>
          <a:ln w="27940">
            <a:solidFill>
              <a:srgbClr val="1F9D8A"/>
            </a:solidFill>
          </a:ln>
        </p:spPr>
      </p:cxnSp>
      <p:sp>
        <p:nvSpPr>
          <p:cNvPr id="129" name="Rect 129"/>
          <p:cNvSpPr/>
          <p:nvPr/>
        </p:nvSpPr>
        <p:spPr>
          <a:xfrm>
            <a:off x="873252" y="4270516"/>
            <a:ext cx="82296" cy="8229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68" name="Text 68"/>
          <p:cNvSpPr txBox="1"/>
          <p:nvPr/>
        </p:nvSpPr>
        <p:spPr>
          <a:xfrm>
            <a:off x="658368" y="399162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3.65%</a:t>
            </a:r>
            <a:endParaRPr lang="zh-CN" sz="9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Rect 130"/>
          <p:cNvSpPr/>
          <p:nvPr/>
        </p:nvSpPr>
        <p:spPr>
          <a:xfrm>
            <a:off x="3890772" y="2944520"/>
            <a:ext cx="82296" cy="8229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69" name="Text 69"/>
          <p:cNvSpPr txBox="1"/>
          <p:nvPr/>
        </p:nvSpPr>
        <p:spPr>
          <a:xfrm>
            <a:off x="3675887" y="26656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8.95%</a:t>
            </a:r>
            <a:endParaRPr lang="zh-CN" sz="9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Rect 131"/>
          <p:cNvSpPr/>
          <p:nvPr/>
        </p:nvSpPr>
        <p:spPr>
          <a:xfrm>
            <a:off x="6908292" y="2096383"/>
            <a:ext cx="82296" cy="8229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70" name="Text 70"/>
          <p:cNvSpPr txBox="1"/>
          <p:nvPr/>
        </p:nvSpPr>
        <p:spPr>
          <a:xfrm>
            <a:off x="6693407" y="1817491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12.34%</a:t>
            </a:r>
            <a:endParaRPr lang="zh-CN" sz="9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0" name="Line 220"/>
          <p:cNvCxnSpPr/>
          <p:nvPr/>
        </p:nvCxnSpPr>
        <p:spPr>
          <a:xfrm flipV="1">
            <a:off x="914400" y="4396728"/>
            <a:ext cx="3017520" cy="490368"/>
          </a:xfrm>
          <a:prstGeom prst="line">
            <a:avLst/>
          </a:prstGeom>
          <a:ln w="27940">
            <a:solidFill>
              <a:srgbClr val="E58C2A"/>
            </a:solidFill>
          </a:ln>
        </p:spPr>
      </p:cxnSp>
      <p:cxnSp>
        <p:nvCxnSpPr>
          <p:cNvPr id="221" name="Line 221"/>
          <p:cNvCxnSpPr/>
          <p:nvPr/>
        </p:nvCxnSpPr>
        <p:spPr>
          <a:xfrm flipV="1">
            <a:off x="3931920" y="4119020"/>
            <a:ext cx="3017520" cy="277708"/>
          </a:xfrm>
          <a:prstGeom prst="line">
            <a:avLst/>
          </a:prstGeom>
          <a:ln w="27940">
            <a:solidFill>
              <a:srgbClr val="E58C2A"/>
            </a:solidFill>
          </a:ln>
        </p:spPr>
      </p:cxnSp>
      <p:sp>
        <p:nvSpPr>
          <p:cNvPr id="132" name="Rect 132"/>
          <p:cNvSpPr/>
          <p:nvPr/>
        </p:nvSpPr>
        <p:spPr>
          <a:xfrm>
            <a:off x="873252" y="4845948"/>
            <a:ext cx="82296" cy="82296"/>
          </a:xfrm>
          <a:prstGeom prst="rect">
            <a:avLst/>
          </a:prstGeom>
          <a:solidFill>
            <a:srgbClr val="E58C2A"/>
          </a:solidFill>
          <a:ln w="9525">
            <a:solidFill>
              <a:srgbClr val="E58C2A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658368" y="4567056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1.35%</a:t>
            </a:r>
            <a:endParaRPr lang="zh-CN" sz="9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Rect 133"/>
          <p:cNvSpPr/>
          <p:nvPr/>
        </p:nvSpPr>
        <p:spPr>
          <a:xfrm>
            <a:off x="3890772" y="4355580"/>
            <a:ext cx="82296" cy="82296"/>
          </a:xfrm>
          <a:prstGeom prst="rect">
            <a:avLst/>
          </a:prstGeom>
          <a:solidFill>
            <a:srgbClr val="E58C2A"/>
          </a:solidFill>
          <a:ln w="9525">
            <a:solidFill>
              <a:srgbClr val="E58C2A"/>
            </a:solidFill>
          </a:ln>
        </p:spPr>
      </p:sp>
      <p:sp>
        <p:nvSpPr>
          <p:cNvPr id="72" name="Text 72"/>
          <p:cNvSpPr txBox="1"/>
          <p:nvPr/>
        </p:nvSpPr>
        <p:spPr>
          <a:xfrm>
            <a:off x="3675887" y="407668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3.31%</a:t>
            </a:r>
            <a:endParaRPr lang="zh-CN" sz="9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Rect 134"/>
          <p:cNvSpPr/>
          <p:nvPr/>
        </p:nvSpPr>
        <p:spPr>
          <a:xfrm>
            <a:off x="6908292" y="4077872"/>
            <a:ext cx="82296" cy="82296"/>
          </a:xfrm>
          <a:prstGeom prst="rect">
            <a:avLst/>
          </a:prstGeom>
          <a:solidFill>
            <a:srgbClr val="E58C2A"/>
          </a:solidFill>
          <a:ln w="9525">
            <a:solidFill>
              <a:srgbClr val="E58C2A"/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6693407" y="3798980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900" b="1">
                <a:solidFill>
                  <a:srgbClr val="E58C2A"/>
                </a:solidFill>
                <a:latin typeface="微软雅黑" panose="020B0503020204020204" charset="-122"/>
                <a:ea typeface="微软雅黑" panose="020B0503020204020204" charset="-122"/>
              </a:rPr>
              <a:t>4.42%</a:t>
            </a:r>
            <a:endParaRPr lang="zh-CN" sz="900" b="1">
              <a:solidFill>
                <a:srgbClr val="E58C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 74"/>
          <p:cNvSpPr txBox="1"/>
          <p:nvPr/>
        </p:nvSpPr>
        <p:spPr>
          <a:xfrm>
            <a:off x="685800" y="504748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 75"/>
          <p:cNvSpPr txBox="1"/>
          <p:nvPr/>
        </p:nvSpPr>
        <p:spPr>
          <a:xfrm>
            <a:off x="3703320" y="504748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 76"/>
          <p:cNvSpPr txBox="1"/>
          <p:nvPr/>
        </p:nvSpPr>
        <p:spPr>
          <a:xfrm>
            <a:off x="6720840" y="504748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Rect 135"/>
          <p:cNvSpPr/>
          <p:nvPr/>
        </p:nvSpPr>
        <p:spPr>
          <a:xfrm>
            <a:off x="7406640" y="1600200"/>
            <a:ext cx="429641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6"/>
            </a:solidFill>
          </a:ln>
        </p:spPr>
      </p:sp>
      <p:sp>
        <p:nvSpPr>
          <p:cNvPr id="77" name="Text 77"/>
          <p:cNvSpPr txBox="1"/>
          <p:nvPr/>
        </p:nvSpPr>
        <p:spPr>
          <a:xfrm>
            <a:off x="7680960" y="1874519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经营含义</a:t>
            </a:r>
            <a:endParaRPr lang="zh-CN" sz="17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ect 136"/>
          <p:cNvSpPr/>
          <p:nvPr/>
        </p:nvSpPr>
        <p:spPr>
          <a:xfrm>
            <a:off x="7635240" y="2505456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7836535" y="2468880"/>
            <a:ext cx="37769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ROI：每 100 元投入资本，2025 年赚 12.34 元。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Rect 137"/>
          <p:cNvSpPr/>
          <p:nvPr/>
        </p:nvSpPr>
        <p:spPr>
          <a:xfrm>
            <a:off x="7635240" y="3035808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7836535" y="2999105"/>
            <a:ext cx="353758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ROA：每 100 元资产，2025 年赚 4.42 元。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Rect 138"/>
          <p:cNvSpPr/>
          <p:nvPr/>
        </p:nvSpPr>
        <p:spPr>
          <a:xfrm>
            <a:off x="7635240" y="3566160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80" name="Text 80"/>
          <p:cNvSpPr txBox="1"/>
          <p:nvPr/>
        </p:nvSpPr>
        <p:spPr>
          <a:xfrm>
            <a:off x="7836535" y="3529330"/>
            <a:ext cx="355028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资产没有白占钱，经营效率在提升。</a:t>
            </a:r>
            <a:endParaRPr lang="zh-CN" sz="14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 84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 14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1" name="Text 101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收入略降，但利润质量提升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 102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 年收入下降不等于经营变差，净利润和资本效率继续上行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 85"/>
          <p:cNvSpPr txBox="1"/>
          <p:nvPr/>
        </p:nvSpPr>
        <p:spPr>
          <a:xfrm>
            <a:off x="868680" y="15087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营业收入（亿元）</a:t>
            </a:r>
            <a:endParaRPr lang="zh-CN" sz="1600" b="1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3" name="Line 223"/>
          <p:cNvCxnSpPr/>
          <p:nvPr/>
        </p:nvCxnSpPr>
        <p:spPr>
          <a:xfrm>
            <a:off x="868680" y="4754880"/>
            <a:ext cx="4663440" cy="0"/>
          </a:xfrm>
          <a:prstGeom prst="line">
            <a:avLst/>
          </a:prstGeom>
          <a:ln w="12700">
            <a:solidFill>
              <a:srgbClr val="60717B"/>
            </a:solidFill>
          </a:ln>
        </p:spPr>
      </p:cxnSp>
      <p:sp>
        <p:nvSpPr>
          <p:cNvPr id="141" name="Rect 141"/>
          <p:cNvSpPr/>
          <p:nvPr/>
        </p:nvSpPr>
        <p:spPr>
          <a:xfrm>
            <a:off x="1371600" y="1987066"/>
            <a:ext cx="914400" cy="2767813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86" name="Text 86"/>
          <p:cNvSpPr txBox="1"/>
          <p:nvPr/>
        </p:nvSpPr>
        <p:spPr>
          <a:xfrm>
            <a:off x="1234440" y="48646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 87"/>
          <p:cNvSpPr txBox="1"/>
          <p:nvPr/>
        </p:nvSpPr>
        <p:spPr>
          <a:xfrm>
            <a:off x="1097280" y="173103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985.74</a:t>
            </a:r>
            <a:endParaRPr lang="zh-CN" sz="10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Rect 142"/>
          <p:cNvSpPr/>
          <p:nvPr/>
        </p:nvSpPr>
        <p:spPr>
          <a:xfrm>
            <a:off x="2926080" y="1920240"/>
            <a:ext cx="914400" cy="2834640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88" name="Text 88"/>
          <p:cNvSpPr txBox="1"/>
          <p:nvPr/>
        </p:nvSpPr>
        <p:spPr>
          <a:xfrm>
            <a:off x="2788920" y="48646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 89"/>
          <p:cNvSpPr txBox="1"/>
          <p:nvPr/>
        </p:nvSpPr>
        <p:spPr>
          <a:xfrm>
            <a:off x="2651760" y="166420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1009.54</a:t>
            </a:r>
            <a:endParaRPr lang="zh-CN" sz="10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Rect 143"/>
          <p:cNvSpPr/>
          <p:nvPr/>
        </p:nvSpPr>
        <p:spPr>
          <a:xfrm>
            <a:off x="4480560" y="2043897"/>
            <a:ext cx="914400" cy="271098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90" name="Text 90"/>
          <p:cNvSpPr txBox="1"/>
          <p:nvPr/>
        </p:nvSpPr>
        <p:spPr>
          <a:xfrm>
            <a:off x="4343400" y="48646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 91"/>
          <p:cNvSpPr txBox="1"/>
          <p:nvPr/>
        </p:nvSpPr>
        <p:spPr>
          <a:xfrm>
            <a:off x="4206240" y="1787865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965.50</a:t>
            </a:r>
            <a:endParaRPr lang="zh-CN" sz="10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 92"/>
          <p:cNvSpPr txBox="1"/>
          <p:nvPr/>
        </p:nvSpPr>
        <p:spPr>
          <a:xfrm>
            <a:off x="6400800" y="15087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净利润（亿元）</a:t>
            </a:r>
            <a:endParaRPr lang="zh-CN" sz="1600" b="1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4" name="Line 224"/>
          <p:cNvCxnSpPr/>
          <p:nvPr/>
        </p:nvCxnSpPr>
        <p:spPr>
          <a:xfrm>
            <a:off x="6400800" y="4754880"/>
            <a:ext cx="4663440" cy="0"/>
          </a:xfrm>
          <a:prstGeom prst="line">
            <a:avLst/>
          </a:prstGeom>
          <a:ln w="12700">
            <a:solidFill>
              <a:srgbClr val="60717B"/>
            </a:solidFill>
          </a:ln>
        </p:spPr>
      </p:cxnSp>
      <p:sp>
        <p:nvSpPr>
          <p:cNvPr id="144" name="Rect 144"/>
          <p:cNvSpPr/>
          <p:nvPr/>
        </p:nvSpPr>
        <p:spPr>
          <a:xfrm>
            <a:off x="6903720" y="4001293"/>
            <a:ext cx="914400" cy="753586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93" name="Text 93"/>
          <p:cNvSpPr txBox="1"/>
          <p:nvPr/>
        </p:nvSpPr>
        <p:spPr>
          <a:xfrm>
            <a:off x="6766559" y="48646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 94"/>
          <p:cNvSpPr txBox="1"/>
          <p:nvPr/>
        </p:nvSpPr>
        <p:spPr>
          <a:xfrm>
            <a:off x="6629400" y="3745261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10.19</a:t>
            </a:r>
            <a:endParaRPr lang="zh-CN" sz="10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Rect 145"/>
          <p:cNvSpPr/>
          <p:nvPr/>
        </p:nvSpPr>
        <p:spPr>
          <a:xfrm>
            <a:off x="8458200" y="2842440"/>
            <a:ext cx="914400" cy="1912439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95" name="Text 95"/>
          <p:cNvSpPr txBox="1"/>
          <p:nvPr/>
        </p:nvSpPr>
        <p:spPr>
          <a:xfrm>
            <a:off x="8321040" y="48646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 96"/>
          <p:cNvSpPr txBox="1"/>
          <p:nvPr/>
        </p:nvSpPr>
        <p:spPr>
          <a:xfrm>
            <a:off x="8183879" y="258640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25.86</a:t>
            </a:r>
            <a:endParaRPr lang="zh-CN" sz="10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Rect 146"/>
          <p:cNvSpPr/>
          <p:nvPr/>
        </p:nvSpPr>
        <p:spPr>
          <a:xfrm>
            <a:off x="10012680" y="1920240"/>
            <a:ext cx="914400" cy="2834640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97" name="Text 97"/>
          <p:cNvSpPr txBox="1"/>
          <p:nvPr/>
        </p:nvSpPr>
        <p:spPr>
          <a:xfrm>
            <a:off x="9875519" y="48646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zh-CN" sz="10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 98"/>
          <p:cNvSpPr txBox="1"/>
          <p:nvPr/>
        </p:nvSpPr>
        <p:spPr>
          <a:xfrm>
            <a:off x="9738359" y="166420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38.33</a:t>
            </a:r>
            <a:endParaRPr lang="zh-CN" sz="10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 99"/>
          <p:cNvSpPr txBox="1"/>
          <p:nvPr/>
        </p:nvSpPr>
        <p:spPr>
          <a:xfrm>
            <a:off x="914400" y="553212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汇报重点：2025 年营业收入同比下降约 4.36%，但净利润继续增长，说明公司从“做大规模”转向“做高回报”。</a:t>
            </a:r>
            <a:endParaRPr lang="zh-CN" sz="16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 103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 15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11" name="Text 111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计算口径与关键假设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 112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便于财务部门复核，也便于老板理解指标边界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Rect 149"/>
          <p:cNvSpPr/>
          <p:nvPr/>
        </p:nvSpPr>
        <p:spPr>
          <a:xfrm>
            <a:off x="868680" y="1545336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1069848" y="15087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ROI = 合并净利润 / 平均投入资本。</a:t>
            </a:r>
            <a:endParaRPr lang="zh-CN" sz="15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Rect 150"/>
          <p:cNvSpPr/>
          <p:nvPr/>
        </p:nvSpPr>
        <p:spPr>
          <a:xfrm>
            <a:off x="868680" y="2075688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1069848" y="2039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ROA = 合并净利润 / 平均总资产。</a:t>
            </a:r>
            <a:endParaRPr lang="zh-CN" sz="15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Rect 151"/>
          <p:cNvSpPr/>
          <p:nvPr/>
        </p:nvSpPr>
        <p:spPr>
          <a:xfrm>
            <a:off x="868680" y="2606040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6" name="Text 106"/>
          <p:cNvSpPr txBox="1"/>
          <p:nvPr/>
        </p:nvSpPr>
        <p:spPr>
          <a:xfrm>
            <a:off x="1069848" y="2569464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ROIC = NOPAT / 平均投入资本；NOPAT = EBIT × (1 - 有效税率)。</a:t>
            </a:r>
            <a:endParaRPr lang="zh-CN" sz="15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Rect 152"/>
          <p:cNvSpPr/>
          <p:nvPr/>
        </p:nvSpPr>
        <p:spPr>
          <a:xfrm>
            <a:off x="868680" y="3136392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1069848" y="3099816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投入资本 = 平均所有者权益 + 平均有息负债 - 平均货币资金 - 平均金融投资类资产。</a:t>
            </a:r>
            <a:endParaRPr lang="zh-CN" sz="15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Rect 153"/>
          <p:cNvSpPr/>
          <p:nvPr/>
        </p:nvSpPr>
        <p:spPr>
          <a:xfrm>
            <a:off x="868680" y="3666744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8" name="Text 108"/>
          <p:cNvSpPr txBox="1"/>
          <p:nvPr/>
        </p:nvSpPr>
        <p:spPr>
          <a:xfrm>
            <a:off x="1069848" y="363016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WACC 为估算值：权益成本按 9.2%，债务成本按利息费用 / 平均有息负债。</a:t>
            </a:r>
            <a:endParaRPr lang="zh-CN" sz="15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Rect 154"/>
          <p:cNvSpPr/>
          <p:nvPr/>
        </p:nvSpPr>
        <p:spPr>
          <a:xfrm>
            <a:off x="868680" y="4197096"/>
            <a:ext cx="73152" cy="7315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1069848" y="41605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>
                <a:solidFill>
                  <a:srgbClr val="1E2A30"/>
                </a:solidFill>
                <a:latin typeface="微软雅黑" panose="020B0503020204020204" charset="-122"/>
                <a:ea typeface="微软雅黑" panose="020B0503020204020204" charset="-122"/>
              </a:rPr>
              <a:t>2023 年所得税费用为负，有效税率按 0% 处理，避免一次性税项扭曲经营回报。</a:t>
            </a:r>
            <a:endParaRPr lang="zh-CN" sz="1500">
              <a:solidFill>
                <a:srgbClr val="1E2A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Text 113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 15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A"/>
          </a:solidFill>
          <a:ln w="9525">
            <a:solidFill>
              <a:srgbClr val="1F9D8A"/>
            </a:solidFill>
          </a:ln>
        </p:spPr>
      </p:sp>
      <p:sp>
        <p:nvSpPr>
          <p:cNvPr id="119" name="Text 119"/>
          <p:cNvSpPr txBox="1"/>
          <p:nvPr/>
        </p:nvSpPr>
        <p:spPr>
          <a:xfrm>
            <a:off x="594360" y="38404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5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给老板的三句话结论</a:t>
            </a:r>
            <a:endParaRPr lang="zh-CN" sz="25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 120"/>
          <p:cNvSpPr txBox="1"/>
          <p:nvPr/>
        </p:nvSpPr>
        <p:spPr>
          <a:xfrm>
            <a:off x="621792" y="868680"/>
            <a:ext cx="8961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5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建议作为汇报收口页</a:t>
            </a:r>
            <a:endParaRPr lang="zh-CN" sz="125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 114"/>
          <p:cNvSpPr txBox="1"/>
          <p:nvPr/>
        </p:nvSpPr>
        <p:spPr>
          <a:xfrm>
            <a:off x="960120" y="16002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1. 公司已经走出 2023 年资本回报低谷，2024 年起 ROIC 跑赢 WACC。</a:t>
            </a:r>
            <a:endParaRPr lang="zh-CN" sz="20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 115"/>
          <p:cNvSpPr txBox="1"/>
          <p:nvPr/>
        </p:nvSpPr>
        <p:spPr>
          <a:xfrm>
            <a:off x="960120" y="26060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2. 2025 年收入略降，但 ROIC、ROI、ROA、EVA 全部继续改善，利润质量优于规模增长。</a:t>
            </a:r>
            <a:endParaRPr lang="zh-CN" sz="20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 116"/>
          <p:cNvSpPr txBox="1"/>
          <p:nvPr/>
        </p:nvSpPr>
        <p:spPr>
          <a:xfrm>
            <a:off x="960120" y="361188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00" b="1">
                <a:solidFill>
                  <a:srgbClr val="123047"/>
                </a:solidFill>
                <a:latin typeface="微软雅黑" panose="020B0503020204020204" charset="-122"/>
                <a:ea typeface="微软雅黑" panose="020B0503020204020204" charset="-122"/>
              </a:rPr>
              <a:t>3. 后续经营重点：保持 ROIC 高于 WACC，同时盯紧现金回款、存货和新增投资回报。</a:t>
            </a:r>
            <a:endParaRPr lang="zh-CN" sz="2000" b="1">
              <a:solidFill>
                <a:srgbClr val="123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Rect 157"/>
          <p:cNvSpPr/>
          <p:nvPr/>
        </p:nvSpPr>
        <p:spPr>
          <a:xfrm>
            <a:off x="960120" y="4983480"/>
            <a:ext cx="98755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9D8A"/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1234440" y="525780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1">
                <a:solidFill>
                  <a:srgbClr val="1F9D8A"/>
                </a:solidFill>
                <a:latin typeface="微软雅黑" panose="020B0503020204020204" charset="-122"/>
                <a:ea typeface="微软雅黑" panose="020B0503020204020204" charset="-122"/>
              </a:rPr>
              <a:t>一句话总结：歌尔股份正在从“利润修复”进入“资本效率驱动的价值创造”。</a:t>
            </a:r>
            <a:endParaRPr lang="zh-CN" sz="1800" b="1">
              <a:solidFill>
                <a:srgbClr val="1F9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Text 121"/>
          <p:cNvSpPr txBox="1"/>
          <p:nvPr/>
        </p:nvSpPr>
        <p:spPr>
          <a:xfrm>
            <a:off x="9875520" y="64922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900">
                <a:solidFill>
                  <a:srgbClr val="60717B"/>
                </a:solidFill>
                <a:latin typeface="微软雅黑" panose="020B0503020204020204" charset="-122"/>
                <a:ea typeface="微软雅黑" panose="020B0503020204020204" charset="-122"/>
              </a:rPr>
              <a:t>歌尔股份 2023-2025</a:t>
            </a:r>
            <a:endParaRPr lang="zh-CN" sz="900">
              <a:solidFill>
                <a:srgbClr val="60717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2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3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4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5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6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7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8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9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0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1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2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3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4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5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6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7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8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19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20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21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ags/tag22.xml><?xml version="1.0" encoding="utf-8"?>
<p:tagLst xmlns:p="http://schemas.openxmlformats.org/presentationml/2006/main">
  <p:tag name="KSO_WM_DIAGRAM_VIRTUALLY_FRAME" val="{&quot;height&quot;:272.9151181102362,&quot;left&quot;:59.04,&quot;top&quot;:149.7248818897638,&quot;width&quot;:501.12}"/>
</p:tagLst>
</file>

<file path=ppt/theme/theme1.xml><?xml version="1.0" encoding="utf-8"?>
<a:theme xmlns:a="http://schemas.openxmlformats.org/drawingml/2006/main" name="GoertekTheme">
  <a:themeElements>
    <a:clrScheme name="Goertek">
      <a:dk1>
        <a:srgbClr val="1E2A30"/>
      </a:dk1>
      <a:lt1>
        <a:srgbClr val="FFFFFF"/>
      </a:lt1>
      <a:dk2>
        <a:srgbClr val="123047"/>
      </a:dk2>
      <a:lt2>
        <a:srgbClr val="F4F7F8"/>
      </a:lt2>
      <a:accent1>
        <a:srgbClr val="1F9D8A"/>
      </a:accent1>
      <a:accent2>
        <a:srgbClr val="E58C2A"/>
      </a:accent2>
      <a:accent3>
        <a:srgbClr val="2E7D32"/>
      </a:accent3>
      <a:accent4>
        <a:srgbClr val="C7473A"/>
      </a:accent4>
      <a:accent5>
        <a:srgbClr val="60717B"/>
      </a:accent5>
      <a:accent6>
        <a:srgbClr val="D9E2E6"/>
      </a:accent6>
      <a:hlink>
        <a:srgbClr val="1F9D8A"/>
      </a:hlink>
      <a:folHlink>
        <a:srgbClr val="1F9D8A"/>
      </a:folHlink>
    </a:clrScheme>
    <a:fontScheme name="Microsoft YaHe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1816</Words>
  <Application>WPS 演示</Application>
  <PresentationFormat>宽屏</PresentationFormat>
  <Paragraphs>210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GoertekTheme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歌尔股份 2023-2025 资本回报分析</dc:title>
  <dc:creator>Codex</dc:creator>
  <cp:lastModifiedBy>娓娓道来</cp:lastModifiedBy>
  <cp:revision>1</cp:revision>
  <dcterms:created xsi:type="dcterms:W3CDTF">2026-05-21T08:22:22Z</dcterms:created>
  <dcterms:modified xsi:type="dcterms:W3CDTF">2026-05-21T08:22:22Z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FBE43FEAA4B448C0A0A48169261FE9D3_12</vt:lpwstr>
  </property>
  <property fmtid="{D5CDD505-2E9C-101B-9397-08002B2CF9AE}" pid="3" name="KSOProductBuildVer">
    <vt:lpwstr>2052-12.1.0.26375</vt:lpwstr>
  </property>
</Properties>
</file>